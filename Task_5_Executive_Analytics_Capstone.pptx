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Customer Churn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058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Task 5 – Executive Analytics Capstone</a:t>
            </a:r>
          </a:p>
          <a:p>
            <a:pPr>
              <a:defRPr sz="2200"/>
            </a:pPr>
            <a:r>
              <a:t>From customer data to business action</a:t>
            </a:r>
          </a:p>
          <a:p>
            <a:pPr>
              <a:defRPr sz="1800"/>
            </a:pPr>
            <a:r>
              <a:t>15-customer sample | Executive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Executive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15 customers analyzed; 7 churned → 46.67% churn rate</a:t>
            </a:r>
          </a:p>
          <a:p>
            <a:pPr>
              <a:spcAft>
                <a:spcPts val="1400"/>
              </a:spcAft>
              <a:defRPr sz="2000"/>
            </a:pPr>
            <a:r>
              <a:t>Retention rate: 53.33%</a:t>
            </a:r>
          </a:p>
          <a:p>
            <a:pPr>
              <a:spcAft>
                <a:spcPts val="1400"/>
              </a:spcAft>
              <a:defRPr sz="2000"/>
            </a:pPr>
            <a:r>
              <a:t>Observed TotalCharge: ₹31,327.18</a:t>
            </a:r>
          </a:p>
          <a:p>
            <a:pPr>
              <a:spcAft>
                <a:spcPts val="1400"/>
              </a:spcAft>
              <a:defRPr sz="2000"/>
            </a:pPr>
            <a:r>
              <a:t>Churned-customer TotalCharge: ₹3,109.51 (9.93% of observed value)</a:t>
            </a:r>
          </a:p>
          <a:p>
            <a:pPr>
              <a:spcAft>
                <a:spcPts val="1400"/>
              </a:spcAft>
              <a:defRPr sz="2000"/>
            </a:pPr>
            <a:r>
              <a:t>Treat results as directional because the sample is small.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Five Insights That Matter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Churn is concentrated enough to justify targeted retention: 7/15 customers churned.</a:t>
            </a:r>
          </a:p>
          <a:p>
            <a:pPr>
              <a:spcAft>
                <a:spcPts val="1400"/>
              </a:spcAft>
              <a:defRPr sz="2000"/>
            </a:pPr>
            <a:r>
              <a:t>Month-to-month contracts show the highest churn rate (100.00%).</a:t>
            </a:r>
          </a:p>
          <a:p>
            <a:pPr>
              <a:spcAft>
                <a:spcPts val="1400"/>
              </a:spcAft>
              <a:defRPr sz="2000"/>
            </a:pPr>
            <a:r>
              <a:t>Churned customers have shorter average tenure (7.0 months).</a:t>
            </a:r>
          </a:p>
          <a:p>
            <a:pPr>
              <a:spcAft>
                <a:spcPts val="1400"/>
              </a:spcAft>
              <a:defRPr sz="2000"/>
            </a:pPr>
            <a:r>
              <a:t>Churned customers average 4.3 support tickets vs 1.0 for retained customers.</a:t>
            </a:r>
          </a:p>
          <a:p>
            <a:pPr>
              <a:spcAft>
                <a:spcPts val="1400"/>
              </a:spcAft>
              <a:defRPr sz="2000"/>
            </a:pPr>
            <a:r>
              <a:t>Retention should combine churn risk with customer value.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Where to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Month-to-month: 7 customers, 7 churned.</a:t>
            </a:r>
          </a:p>
          <a:p>
            <a:pPr>
              <a:spcAft>
                <a:spcPts val="1400"/>
              </a:spcAft>
              <a:defRPr sz="2000"/>
            </a:pPr>
            <a:r>
              <a:t>One Year: 4 customers, 0 churned.</a:t>
            </a:r>
          </a:p>
          <a:p>
            <a:pPr>
              <a:spcAft>
                <a:spcPts val="1400"/>
              </a:spcAft>
              <a:defRPr sz="2000"/>
            </a:pPr>
            <a:r>
              <a:t>Two Year: 4 customers, 0 churned.</a:t>
            </a:r>
          </a:p>
          <a:p>
            <a:pPr>
              <a:spcAft>
                <a:spcPts val="1400"/>
              </a:spcAft>
              <a:defRPr sz="2000"/>
            </a:pPr>
            <a:r>
              <a:t>Priority: short-tenure + month-to-month + high support burden.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Recommended Retention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1. Contact high-risk customers first.</a:t>
            </a:r>
          </a:p>
          <a:p>
            <a:pPr>
              <a:spcAft>
                <a:spcPts val="1400"/>
              </a:spcAft>
              <a:defRPr sz="2000"/>
            </a:pPr>
            <a:r>
              <a:t>2. Resolve recurring support issues and follow up.</a:t>
            </a:r>
          </a:p>
          <a:p>
            <a:pPr>
              <a:spcAft>
                <a:spcPts val="1400"/>
              </a:spcAft>
              <a:defRPr sz="2000"/>
            </a:pPr>
            <a:r>
              <a:t>3. Encourage suitable contract upgrades with value-based offers.</a:t>
            </a:r>
          </a:p>
          <a:p>
            <a:pPr>
              <a:spcAft>
                <a:spcPts val="1400"/>
              </a:spcAft>
              <a:defRPr sz="2000"/>
            </a:pPr>
            <a:r>
              <a:t>4. Prioritize high-value accounts when retention capacity is limited.</a:t>
            </a:r>
          </a:p>
          <a:p>
            <a:pPr>
              <a:spcAft>
                <a:spcPts val="1400"/>
              </a:spcAft>
              <a:defRPr sz="2000"/>
            </a:pPr>
            <a:r>
              <a:t>5. Monitor churn monthly and validate the approach on larger historical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Transparent Risk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Month-to-month contract = +3 points</a:t>
            </a:r>
          </a:p>
          <a:p>
            <a:pPr>
              <a:spcAft>
                <a:spcPts val="1400"/>
              </a:spcAft>
              <a:defRPr sz="2000"/>
            </a:pPr>
            <a:r>
              <a:t>4+ support tickets = +2 points</a:t>
            </a:r>
          </a:p>
          <a:p>
            <a:pPr>
              <a:spcAft>
                <a:spcPts val="1400"/>
              </a:spcAft>
              <a:defRPr sz="2000"/>
            </a:pPr>
            <a:r>
              <a:t>Tenure below 6 months = +2 points</a:t>
            </a:r>
          </a:p>
          <a:p>
            <a:pPr>
              <a:spcAft>
                <a:spcPts val="1400"/>
              </a:spcAft>
              <a:defRPr sz="2000"/>
            </a:pPr>
            <a:r>
              <a:t>5–7 = High risk | 3–4 = Medium | 0–2 = Low</a:t>
            </a:r>
          </a:p>
          <a:p>
            <a:pPr>
              <a:spcAft>
                <a:spcPts val="1400"/>
              </a:spcAft>
              <a:defRPr sz="2000"/>
            </a:pPr>
            <a:r>
              <a:t>Purpose: transparent prioritization, not a predictive probability.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Impact, Assumptions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Observed value associated with churned customers: ₹3,109.51.</a:t>
            </a:r>
          </a:p>
          <a:p>
            <a:pPr>
              <a:spcAft>
                <a:spcPts val="1400"/>
              </a:spcAft>
              <a:defRPr sz="2000"/>
            </a:pPr>
            <a:r>
              <a:t>Small sample: one record can materially change percentages.</a:t>
            </a:r>
          </a:p>
          <a:p>
            <a:pPr>
              <a:spcAft>
                <a:spcPts val="1400"/>
              </a:spcAft>
              <a:defRPr sz="2000"/>
            </a:pPr>
            <a:r>
              <a:t>Sample data is directional and should not be interpreted causally.</a:t>
            </a:r>
          </a:p>
          <a:p>
            <a:pPr>
              <a:spcAft>
                <a:spcPts val="1400"/>
              </a:spcAft>
              <a:defRPr sz="2000"/>
            </a:pPr>
            <a:r>
              <a:t>TotalCharge is observed historical/customer value, not guaranteed future revenue.</a:t>
            </a:r>
          </a:p>
          <a:p>
            <a:pPr>
              <a:spcAft>
                <a:spcPts val="1400"/>
              </a:spcAft>
              <a:defRPr sz="2000"/>
            </a:pPr>
            <a:r>
              <a:t>Validate recommendations on a larger real-world dataset before scaling.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Executive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Start with targeted retention for high-risk customers.</a:t>
            </a:r>
          </a:p>
          <a:p>
            <a:pPr>
              <a:spcAft>
                <a:spcPts val="1400"/>
              </a:spcAft>
              <a:defRPr sz="2000"/>
            </a:pPr>
            <a:r>
              <a:t>Use support resolution + contract-conversion offers as the first interventions.</a:t>
            </a:r>
          </a:p>
          <a:p>
            <a:pPr>
              <a:spcAft>
                <a:spcPts val="1400"/>
              </a:spcAft>
              <a:defRPr sz="2000"/>
            </a:pPr>
            <a:r>
              <a:t>Use customer value to prioritize scarce retention resources.</a:t>
            </a:r>
          </a:p>
          <a:p>
            <a:pPr>
              <a:spcAft>
                <a:spcPts val="1400"/>
              </a:spcAft>
              <a:defRPr sz="2000"/>
            </a:pPr>
            <a:r>
              <a:t>Build a larger historical dataset and measure intervention outcomes.</a:t>
            </a:r>
          </a:p>
          <a:p>
            <a:pPr>
              <a:spcAft>
                <a:spcPts val="1400"/>
              </a:spcAft>
              <a:defRPr sz="2000"/>
            </a:pPr>
            <a:r>
              <a:t>Success metric: lower churn while protecting high-value customer relationships.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Closing –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Protect the customers most likely to leave.</a:t>
            </a:r>
          </a:p>
          <a:p>
            <a:pPr>
              <a:spcAft>
                <a:spcPts val="1400"/>
              </a:spcAft>
              <a:defRPr sz="2000"/>
            </a:pPr>
            <a:r>
              <a:t>Fix the experience signals linked with churn.</a:t>
            </a:r>
          </a:p>
          <a:p>
            <a:pPr>
              <a:spcAft>
                <a:spcPts val="1400"/>
              </a:spcAft>
              <a:defRPr sz="2000"/>
            </a:pPr>
            <a:r>
              <a:t>Convert suitable short-term relationships into longer-term relationships.</a:t>
            </a:r>
          </a:p>
          <a:p>
            <a:pPr>
              <a:spcAft>
                <a:spcPts val="1400"/>
              </a:spcAft>
              <a:defRPr sz="2000"/>
            </a:pPr>
            <a:r>
              <a:t>Measure, learn, and refine using larger 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